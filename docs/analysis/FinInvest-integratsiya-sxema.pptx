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286000"/>
            <a:ext cx="201168" cy="2194560"/>
          </a:xfrm>
          <a:prstGeom prst="roundRect">
            <a:avLst/>
          </a:prstGeom>
          <a:solidFill>
            <a:srgbClr val="7F7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331720"/>
            <a:ext cx="10241280" cy="1005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200" b="1">
                <a:solidFill>
                  <a:srgbClr val="2C2C2A"/>
                </a:solidFill>
                <a:latin typeface="Calibri"/>
              </a:rPr>
              <a:t>FinInvest — davlat servislari integratsiya sxemasi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3429000"/>
            <a:ext cx="1024128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0">
                <a:solidFill>
                  <a:srgbClr val="5F5E5A"/>
                </a:solidFill>
                <a:latin typeface="Calibri"/>
              </a:rPr>
              <a:t>PINFL asosida skoring, aktiv va garov tekshiruvi — Egov / iHamkor servislari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4069080"/>
            <a:ext cx="1024128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0">
                <a:solidFill>
                  <a:srgbClr val="888780"/>
                </a:solidFill>
                <a:latin typeface="Calibri"/>
              </a:rPr>
              <a:t>27.07.2026 · ichki texnik hujjat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2200" b="1">
                <a:solidFill>
                  <a:srgbClr val="2C2C2A"/>
                </a:solidFill>
                <a:latin typeface="Calibri"/>
              </a:rPr>
              <a:t>1 · To'liq oqim — PINFL → qaror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00" b="0">
                <a:solidFill>
                  <a:srgbClr val="5F5E5A"/>
                </a:solidFill>
                <a:latin typeface="Calibri"/>
              </a:rPr>
              <a:t>bitta PINFL'dan boshlanadi, faqat Excel'dagi servislar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92624" y="1234440"/>
            <a:ext cx="2194560" cy="502920"/>
          </a:xfrm>
          <a:prstGeom prst="roundRect">
            <a:avLst/>
          </a:prstGeom>
          <a:solidFill>
            <a:srgbClr val="EEEDFE"/>
          </a:solidFill>
          <a:ln w="12700">
            <a:solidFill>
              <a:srgbClr val="7F7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500" b="1">
                <a:solidFill>
                  <a:srgbClr val="26215C"/>
                </a:solidFill>
                <a:latin typeface="Calibri"/>
              </a:rPr>
              <a:t>PINFL</a:t>
            </a:r>
          </a:p>
          <a:p>
            <a:pPr algn="ctr"/>
            <a:r>
              <a:rPr sz="1000">
                <a:solidFill>
                  <a:srgbClr val="26215C"/>
                </a:solidFill>
                <a:latin typeface="Calibri"/>
              </a:rPr>
              <a:t>bitta kirish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9904" y="1737360"/>
            <a:ext cx="0" cy="164592"/>
          </a:xfrm>
          <a:prstGeom prst="line">
            <a:avLst/>
          </a:prstGeom>
          <a:ln w="19050">
            <a:solidFill>
              <a:srgbClr val="8887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938528"/>
            <a:ext cx="10908792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4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039112"/>
            <a:ext cx="1965960" cy="36576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378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0C447C"/>
                </a:solidFill>
                <a:latin typeface="Calibri"/>
              </a:rPr>
              <a:t>1 · KYC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938528"/>
            <a:ext cx="8503920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2C2C2A"/>
                </a:solidFill>
                <a:latin typeface="Calibri"/>
              </a:rPr>
              <a:t>GcpDocRest  ·  MVDAddress  ·  AdliyaMarriage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96896"/>
            <a:ext cx="10908792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4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697479"/>
            <a:ext cx="1965960" cy="36576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378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0C447C"/>
                </a:solidFill>
                <a:latin typeface="Calibri"/>
              </a:rPr>
              <a:t>2 · Daromad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596896"/>
            <a:ext cx="8503920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2C2C2A"/>
                </a:solidFill>
                <a:latin typeface="Calibri"/>
              </a:rPr>
              <a:t>iHamkor_Fizsalary  ·  MehnatCurrentPosition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55263"/>
            <a:ext cx="10908792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4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355847"/>
            <a:ext cx="1965960" cy="36576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1D9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085041"/>
                </a:solidFill>
                <a:latin typeface="Calibri"/>
              </a:rPr>
              <a:t>3 · Firma (INN)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255263"/>
            <a:ext cx="8503920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2C2C2A"/>
                </a:solidFill>
                <a:latin typeface="Calibri"/>
              </a:rPr>
              <a:t>Founder / Director → firma INN →  Buxbalans · Finreport · Yurdebt · reyting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13631"/>
            <a:ext cx="10908792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4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4014215"/>
            <a:ext cx="1965960" cy="365760"/>
          </a:xfrm>
          <a:prstGeom prst="roundRect">
            <a:avLst/>
          </a:prstGeom>
          <a:solidFill>
            <a:srgbClr val="FCEBEB"/>
          </a:solidFill>
          <a:ln w="12700">
            <a:solidFill>
              <a:srgbClr val="E24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791F1F"/>
                </a:solidFill>
                <a:latin typeface="Calibri"/>
              </a:rPr>
              <a:t>4 · Stop-faktor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913631"/>
            <a:ext cx="8503920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2C2C2A"/>
                </a:solidFill>
                <a:latin typeface="Calibri"/>
              </a:rPr>
              <a:t>Fizdebt  ·  Aliment  ·  Debtorexec  ·  Debtban  ·  Insolvent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571999"/>
            <a:ext cx="10908792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4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4672583"/>
            <a:ext cx="1965960" cy="36576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BA75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633806"/>
                </a:solidFill>
                <a:latin typeface="Calibri"/>
              </a:rPr>
              <a:t>5 · Aktiv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571999"/>
            <a:ext cx="8503920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2C2C2A"/>
                </a:solidFill>
                <a:latin typeface="Calibri"/>
              </a:rPr>
              <a:t>Fiztaxobjects  ·  YHXBBCarList  →  kadastr / raqam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30367"/>
            <a:ext cx="10908792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4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5330951"/>
            <a:ext cx="1965960" cy="36576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BA75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633806"/>
                </a:solidFill>
                <a:latin typeface="Calibri"/>
              </a:rPr>
              <a:t>6 · Garov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5230367"/>
            <a:ext cx="8503920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2C2C2A"/>
                </a:solidFill>
                <a:latin typeface="Calibri"/>
              </a:rPr>
              <a:t>avto: MIBAuto · YHXBBVehicleInfo (cheklov)     |     uy: Kadastr · MVD propiska · MIBRealty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9904" y="5797295"/>
            <a:ext cx="0" cy="128016"/>
          </a:xfrm>
          <a:prstGeom prst="line">
            <a:avLst/>
          </a:prstGeom>
          <a:ln w="19050">
            <a:solidFill>
              <a:srgbClr val="8887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" y="5943599"/>
            <a:ext cx="10908792" cy="56692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1D9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00" b="1">
                <a:solidFill>
                  <a:srgbClr val="085041"/>
                </a:solidFill>
                <a:latin typeface="Calibri"/>
              </a:rPr>
              <a:t>Skoring → qaror:   PASS  ·  MANUAL  ·  REJECT      (DTI ≤ 50%  +  garov toza)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2200" b="1">
                <a:solidFill>
                  <a:srgbClr val="2C2C2A"/>
                </a:solidFill>
                <a:latin typeface="Calibri"/>
              </a:rPr>
              <a:t>2 · Aktiv — nomidagi (bor) vs yangi (sotib olinadigan)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5394960" cy="4114800"/>
          </a:xfrm>
          <a:prstGeom prst="roundRect">
            <a:avLst/>
          </a:prstGeom>
          <a:solidFill>
            <a:srgbClr val="EAF3DE"/>
          </a:solidFill>
          <a:ln w="15875">
            <a:solidFill>
              <a:srgbClr val="63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19" y="1783080"/>
            <a:ext cx="475488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500" b="1">
                <a:solidFill>
                  <a:srgbClr val="27500A"/>
                </a:solidFill>
                <a:latin typeface="Calibri"/>
              </a:rPr>
              <a:t>Nomidagi / mavjud aktiv — PINFL'dan chiqadi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19" y="2606040"/>
            <a:ext cx="475488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50" b="0">
                <a:solidFill>
                  <a:srgbClr val="27500A"/>
                </a:solidFill>
                <a:latin typeface="Calibri"/>
              </a:rPr>
              <a:t>manba: PINFL — avtomatik topiladi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" y="3246120"/>
            <a:ext cx="475488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50" b="0">
                <a:solidFill>
                  <a:srgbClr val="27500A"/>
                </a:solidFill>
                <a:latin typeface="Calibri"/>
              </a:rPr>
              <a:t>avto  →  YHXBBCarList + Fiztaxobjects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3886200"/>
            <a:ext cx="475488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50" b="0">
                <a:solidFill>
                  <a:srgbClr val="27500A"/>
                </a:solidFill>
                <a:latin typeface="Calibri"/>
              </a:rPr>
              <a:t>uy-joy  →  Fiztaxobjects (kadastr №)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4526280"/>
            <a:ext cx="475488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50" b="0">
                <a:solidFill>
                  <a:srgbClr val="27500A"/>
                </a:solidFill>
                <a:latin typeface="Calibri"/>
              </a:rPr>
              <a:t>tekshirish  →  YHXBBVehicleInfo / Kadastr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5166360"/>
            <a:ext cx="475488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50" b="0">
                <a:solidFill>
                  <a:srgbClr val="27500A"/>
                </a:solidFill>
                <a:latin typeface="Calibri"/>
              </a:rPr>
              <a:t>hibs  →  MIBAuto / MIBRealty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54480"/>
            <a:ext cx="5394960" cy="4114800"/>
          </a:xfrm>
          <a:prstGeom prst="roundRect">
            <a:avLst/>
          </a:prstGeom>
          <a:solidFill>
            <a:srgbClr val="F1EFE8"/>
          </a:solidFill>
          <a:ln w="15875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75488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500" b="1">
                <a:solidFill>
                  <a:srgbClr val="2C2C2A"/>
                </a:solidFill>
                <a:latin typeface="Calibri"/>
              </a:rPr>
              <a:t>Yangi — sotib olinayotgan aktiv — shartnomadan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06040"/>
            <a:ext cx="475488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50" b="0">
                <a:solidFill>
                  <a:srgbClr val="2C2C2A"/>
                </a:solidFill>
                <a:latin typeface="Calibri"/>
              </a:rPr>
              <a:t>manba: shartnoma / sotuvchi — PINFL'da yo'q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46120"/>
            <a:ext cx="475488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50" b="0">
                <a:solidFill>
                  <a:srgbClr val="2C2C2A"/>
                </a:solidFill>
                <a:latin typeface="Calibri"/>
              </a:rPr>
              <a:t>dealerdagi mashina  →  davlat raqami yo'q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886200"/>
            <a:ext cx="475488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50" b="0">
                <a:solidFill>
                  <a:srgbClr val="2C2C2A"/>
                </a:solidFill>
                <a:latin typeface="Calibri"/>
              </a:rPr>
              <a:t>quruvchidan kvartira  →  kadastr yo'q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526280"/>
            <a:ext cx="475488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50" b="0">
                <a:solidFill>
                  <a:srgbClr val="2C2C2A"/>
                </a:solidFill>
                <a:latin typeface="Calibri"/>
              </a:rPr>
              <a:t>sabab: hali xaridor nomida emas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166360"/>
            <a:ext cx="475488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250" b="0">
                <a:solidFill>
                  <a:srgbClr val="2C2C2A"/>
                </a:solidFill>
                <a:latin typeface="Calibri"/>
              </a:rPr>
              <a:t>qo'lda kiritiladi (firmNew oqimi)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2200" b="1">
                <a:solidFill>
                  <a:srgbClr val="2C2C2A"/>
                </a:solidFill>
                <a:latin typeface="Calibri"/>
              </a:rPr>
              <a:t>3 · Mashina tekshiruvi — aniq / shartli / keyinroq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92624" y="1234440"/>
            <a:ext cx="2194560" cy="502920"/>
          </a:xfrm>
          <a:prstGeom prst="roundRect">
            <a:avLst/>
          </a:prstGeom>
          <a:solidFill>
            <a:srgbClr val="F1EFE8"/>
          </a:solidFill>
          <a:ln w="12700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>
                <a:solidFill>
                  <a:srgbClr val="2C2C2A"/>
                </a:solidFill>
                <a:latin typeface="Calibri"/>
              </a:rPr>
              <a:t>Mashina</a:t>
            </a:r>
          </a:p>
          <a:p>
            <a:pPr algn="ctr"/>
            <a:r>
              <a:rPr sz="1000">
                <a:solidFill>
                  <a:srgbClr val="2C2C2A"/>
                </a:solidFill>
                <a:latin typeface="Calibri"/>
              </a:rPr>
              <a:t>davlat raqami · kuzov 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89904" y="1737360"/>
            <a:ext cx="0" cy="146304"/>
          </a:xfrm>
          <a:prstGeom prst="line">
            <a:avLst/>
          </a:prstGeom>
          <a:ln w="19050">
            <a:solidFill>
              <a:srgbClr val="8887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938528"/>
            <a:ext cx="10908792" cy="310896"/>
          </a:xfrm>
          <a:prstGeom prst="roundRect">
            <a:avLst/>
          </a:prstGeom>
          <a:solidFill>
            <a:srgbClr val="EA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9144" bIns="9144"/>
          <a:lstStyle/>
          <a:p>
            <a:pPr algn="ctr"/>
            <a:r>
              <a:rPr sz="1100" b="1">
                <a:solidFill>
                  <a:srgbClr val="27500A"/>
                </a:solidFill>
                <a:latin typeface="Calibri"/>
              </a:rPr>
              <a:t>aniq — Excel'da bor · har doim majburiy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04288"/>
            <a:ext cx="10908792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4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04288"/>
            <a:ext cx="2834640" cy="457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2C2C2A"/>
                </a:solidFill>
                <a:latin typeface="Calibri"/>
              </a:rPr>
              <a:t>Egalik — nomidami?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304288"/>
            <a:ext cx="5120640" cy="457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2C2C2A"/>
                </a:solidFill>
                <a:latin typeface="Calibri"/>
              </a:rPr>
              <a:t>YHXBBCarList · Fiztaxobjects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4040" y="2377440"/>
            <a:ext cx="1828800" cy="310896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63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000" b="1">
                <a:solidFill>
                  <a:srgbClr val="27500A"/>
                </a:solidFill>
                <a:latin typeface="Calibri"/>
              </a:rPr>
              <a:t>aniq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16352"/>
            <a:ext cx="10908792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4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16352"/>
            <a:ext cx="2834640" cy="457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2C2C2A"/>
                </a:solidFill>
                <a:latin typeface="Calibri"/>
              </a:rPr>
              <a:t>Hibs / taqiq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816352"/>
            <a:ext cx="5120640" cy="457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2C2C2A"/>
                </a:solidFill>
                <a:latin typeface="Calibri"/>
              </a:rPr>
              <a:t>MIBAuto · MIBAutomobile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2889504"/>
            <a:ext cx="1828800" cy="310896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63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000" b="1">
                <a:solidFill>
                  <a:srgbClr val="27500A"/>
                </a:solidFill>
                <a:latin typeface="Calibri"/>
              </a:rPr>
              <a:t>aniq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28416"/>
            <a:ext cx="10908792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4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328416"/>
            <a:ext cx="2834640" cy="457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2C2C2A"/>
                </a:solidFill>
                <a:latin typeface="Calibri"/>
              </a:rPr>
              <a:t>Registratsiya cheklovi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328416"/>
            <a:ext cx="5120640" cy="457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2C2C2A"/>
                </a:solidFill>
                <a:latin typeface="Calibri"/>
              </a:rPr>
              <a:t>YHXBBVehicleInfo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3401568"/>
            <a:ext cx="1828800" cy="310896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63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000" b="1">
                <a:solidFill>
                  <a:srgbClr val="27500A"/>
                </a:solidFill>
                <a:latin typeface="Calibri"/>
              </a:rPr>
              <a:t>aniq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95344"/>
            <a:ext cx="10908792" cy="310896"/>
          </a:xfrm>
          <a:prstGeom prst="roundRect">
            <a:avLst/>
          </a:prstGeom>
          <a:solidFill>
            <a:srgbClr val="FA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9144" bIns="9144"/>
          <a:lstStyle/>
          <a:p>
            <a:pPr algn="ctr"/>
            <a:r>
              <a:rPr sz="1100" b="1">
                <a:solidFill>
                  <a:srgbClr val="633806"/>
                </a:solidFill>
                <a:latin typeface="Calibri"/>
              </a:rPr>
              <a:t>shartli — faqat import mashina uchun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61104"/>
            <a:ext cx="10908792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4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61104"/>
            <a:ext cx="2834640" cy="457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2C2C2A"/>
                </a:solidFill>
                <a:latin typeface="Calibri"/>
              </a:rPr>
              <a:t>Bojxona / import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261104"/>
            <a:ext cx="5120640" cy="457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2C2C2A"/>
                </a:solidFill>
                <a:latin typeface="Calibri"/>
              </a:rPr>
              <a:t>GTKImportedVehicles · Transport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4334256"/>
            <a:ext cx="1828800" cy="310896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BA75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000" b="1">
                <a:solidFill>
                  <a:srgbClr val="633806"/>
                </a:solidFill>
                <a:latin typeface="Calibri"/>
              </a:rPr>
              <a:t>shartli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28032"/>
            <a:ext cx="10908792" cy="310896"/>
          </a:xfrm>
          <a:prstGeom prst="roundRect">
            <a:avLst/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9144" bIns="9144"/>
          <a:lstStyle/>
          <a:p>
            <a:pPr algn="ctr"/>
            <a:r>
              <a:rPr sz="1100" b="1">
                <a:solidFill>
                  <a:srgbClr val="2C2C2A"/>
                </a:solidFill>
                <a:latin typeface="Calibri"/>
              </a:rPr>
              <a:t>keyinroq — KATM bilan (hozircha emas)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193792"/>
            <a:ext cx="10908792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4B2A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193792"/>
            <a:ext cx="2834640" cy="457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200" b="1">
                <a:solidFill>
                  <a:srgbClr val="888780"/>
                </a:solidFill>
                <a:latin typeface="Calibri"/>
              </a:rPr>
              <a:t>Garov reestri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193792"/>
            <a:ext cx="5120640" cy="457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1100" b="0">
                <a:solidFill>
                  <a:srgbClr val="888780"/>
                </a:solidFill>
                <a:latin typeface="Calibri"/>
              </a:rPr>
              <a:t>KATM — Excel'da yo'q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64040" y="5266944"/>
            <a:ext cx="1828800" cy="310896"/>
          </a:xfrm>
          <a:prstGeom prst="roundRect">
            <a:avLst/>
          </a:prstGeom>
          <a:solidFill>
            <a:srgbClr val="F1EFE8"/>
          </a:solidFill>
          <a:ln w="12700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000" b="1">
                <a:solidFill>
                  <a:srgbClr val="2C2C2A"/>
                </a:solidFill>
                <a:latin typeface="Calibri"/>
              </a:rPr>
              <a:t>keyinroq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806440"/>
            <a:ext cx="10908792" cy="56692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1D9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00" b="1">
                <a:solidFill>
                  <a:srgbClr val="085041"/>
                </a:solidFill>
                <a:latin typeface="Calibri"/>
              </a:rPr>
              <a:t>Aniqlari bilan xulosa:   nomida  +  hibs yo'q  +  cheklov yo'q  →  garov toza (majburiy yadro)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2200" b="1">
                <a:solidFill>
                  <a:srgbClr val="2C2C2A"/>
                </a:solidFill>
                <a:latin typeface="Calibri"/>
              </a:rPr>
              <a:t>4 · P0 — MVP servislar ro'yxati (har arizada)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34440"/>
          <a:ext cx="1090879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2194560"/>
                <a:gridCol w="3867912"/>
              </a:tblGrid>
              <a:tr h="4267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Servis</a:t>
                      </a:r>
                    </a:p>
                  </a:txBody>
                  <a:tcPr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Kirish</a:t>
                      </a:r>
                    </a:p>
                  </a:txBody>
                  <a:tcPr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Vazifa</a:t>
                      </a:r>
                    </a:p>
                  </a:txBody>
                  <a:tcPr>
                    <a:solidFill>
                      <a:srgbClr val="534AB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C2C2A"/>
                          </a:solidFill>
                          <a:latin typeface="Calibri"/>
                        </a:rPr>
                        <a:t>GcpDocRest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C2C2A"/>
                          </a:solidFill>
                          <a:latin typeface="Calibri"/>
                        </a:rPr>
                        <a:t>PINFL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C2C2A"/>
                          </a:solidFill>
                          <a:latin typeface="Calibri"/>
                        </a:rPr>
                        <a:t>Pasport (KYC)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C2C2A"/>
                          </a:solidFill>
                          <a:latin typeface="Calibri"/>
                        </a:rPr>
                        <a:t>MVDAddressInfoService</a:t>
                      </a:r>
                    </a:p>
                  </a:txBody>
                  <a:tcPr anchor="ctr"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C2C2A"/>
                          </a:solidFill>
                          <a:latin typeface="Calibri"/>
                        </a:rPr>
                        <a:t>PINFL</a:t>
                      </a:r>
                    </a:p>
                  </a:txBody>
                  <a:tcPr anchor="ctr"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C2C2A"/>
                          </a:solidFill>
                          <a:latin typeface="Calibri"/>
                        </a:rPr>
                        <a:t>Propiska manzil</a:t>
                      </a:r>
                    </a:p>
                  </a:txBody>
                  <a:tcPr anchor="ctr">
                    <a:solidFill>
                      <a:srgbClr val="F1EFE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C2C2A"/>
                          </a:solidFill>
                          <a:latin typeface="Calibri"/>
                        </a:rPr>
                        <a:t>iHamkor_Fizsalary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C2C2A"/>
                          </a:solidFill>
                          <a:latin typeface="Calibri"/>
                        </a:rPr>
                        <a:t>PINFL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C2C2A"/>
                          </a:solidFill>
                          <a:latin typeface="Calibri"/>
                        </a:rPr>
                        <a:t>Ish haqi (daromad)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C2C2A"/>
                          </a:solidFill>
                          <a:latin typeface="Calibri"/>
                        </a:rPr>
                        <a:t>MehnatCurrentPosition</a:t>
                      </a:r>
                    </a:p>
                  </a:txBody>
                  <a:tcPr anchor="ctr"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C2C2A"/>
                          </a:solidFill>
                          <a:latin typeface="Calibri"/>
                        </a:rPr>
                        <a:t>PINFL</a:t>
                      </a:r>
                    </a:p>
                  </a:txBody>
                  <a:tcPr anchor="ctr"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C2C2A"/>
                          </a:solidFill>
                          <a:latin typeface="Calibri"/>
                        </a:rPr>
                        <a:t>Joriy ish joyi</a:t>
                      </a:r>
                    </a:p>
                  </a:txBody>
                  <a:tcPr anchor="ctr">
                    <a:solidFill>
                      <a:srgbClr val="F1EFE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C2C2A"/>
                          </a:solidFill>
                          <a:latin typeface="Calibri"/>
                        </a:rPr>
                        <a:t>iHamkor_Founder / Director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C2C2A"/>
                          </a:solidFill>
                          <a:latin typeface="Calibri"/>
                        </a:rPr>
                        <a:t>PINFL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C2C2A"/>
                          </a:solidFill>
                          <a:latin typeface="Calibri"/>
                        </a:rPr>
                        <a:t>Firmalari → INN (ko'prik)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C2C2A"/>
                          </a:solidFill>
                          <a:latin typeface="Calibri"/>
                        </a:rPr>
                        <a:t>iHamkor_Fizdebt</a:t>
                      </a:r>
                    </a:p>
                  </a:txBody>
                  <a:tcPr anchor="ctr"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C2C2A"/>
                          </a:solidFill>
                          <a:latin typeface="Calibri"/>
                        </a:rPr>
                        <a:t>PINFL</a:t>
                      </a:r>
                    </a:p>
                  </a:txBody>
                  <a:tcPr anchor="ctr"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C2C2A"/>
                          </a:solidFill>
                          <a:latin typeface="Calibri"/>
                        </a:rPr>
                        <a:t>Soliq qarzi</a:t>
                      </a:r>
                    </a:p>
                  </a:txBody>
                  <a:tcPr anchor="ctr">
                    <a:solidFill>
                      <a:srgbClr val="F1EFE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C2C2A"/>
                          </a:solidFill>
                          <a:latin typeface="Calibri"/>
                        </a:rPr>
                        <a:t>iHamkor_Fiztaxobjects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C2C2A"/>
                          </a:solidFill>
                          <a:latin typeface="Calibri"/>
                        </a:rPr>
                        <a:t>PINFL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C2C2A"/>
                          </a:solidFill>
                          <a:latin typeface="Calibri"/>
                        </a:rPr>
                        <a:t>Mol-mulk (avto + uy)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C2C2A"/>
                          </a:solidFill>
                          <a:latin typeface="Calibri"/>
                        </a:rPr>
                        <a:t>MIBDebtorexec / Debtban / Insolvent</a:t>
                      </a:r>
                    </a:p>
                  </a:txBody>
                  <a:tcPr anchor="ctr"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C2C2A"/>
                          </a:solidFill>
                          <a:latin typeface="Calibri"/>
                        </a:rPr>
                        <a:t>PINFL</a:t>
                      </a:r>
                    </a:p>
                  </a:txBody>
                  <a:tcPr anchor="ctr"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C2C2A"/>
                          </a:solidFill>
                          <a:latin typeface="Calibri"/>
                        </a:rPr>
                        <a:t>Stop-faktor (ijro, taqiq)</a:t>
                      </a:r>
                    </a:p>
                  </a:txBody>
                  <a:tcPr anchor="ctr">
                    <a:solidFill>
                      <a:srgbClr val="F1EFE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C2C2A"/>
                          </a:solidFill>
                          <a:latin typeface="Calibri"/>
                        </a:rPr>
                        <a:t>MIBAliment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C2C2A"/>
                          </a:solidFill>
                          <a:latin typeface="Calibri"/>
                        </a:rPr>
                        <a:t>PINFL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C2C2A"/>
                          </a:solidFill>
                          <a:latin typeface="Calibri"/>
                        </a:rPr>
                        <a:t>Aliment majburiyati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C2C2A"/>
                          </a:solidFill>
                          <a:latin typeface="Calibri"/>
                        </a:rPr>
                        <a:t>YHXBBVehicleInfo / CarList / MIBAuto</a:t>
                      </a:r>
                    </a:p>
                  </a:txBody>
                  <a:tcPr anchor="ctr"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C2C2A"/>
                          </a:solidFill>
                          <a:latin typeface="Calibri"/>
                        </a:rPr>
                        <a:t>PINFL / raqam</a:t>
                      </a:r>
                    </a:p>
                  </a:txBody>
                  <a:tcPr anchor="ctr"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C2C2A"/>
                          </a:solidFill>
                          <a:latin typeface="Calibri"/>
                        </a:rPr>
                        <a:t>AVTO garov</a:t>
                      </a:r>
                    </a:p>
                  </a:txBody>
                  <a:tcPr anchor="ctr">
                    <a:solidFill>
                      <a:srgbClr val="F1EFE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C2C2A"/>
                          </a:solidFill>
                          <a:latin typeface="Calibri"/>
                        </a:rPr>
                        <a:t>Kadastr / MVDRegistrationKadastr / MIBRealty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C2C2A"/>
                          </a:solidFill>
                          <a:latin typeface="Calibri"/>
                        </a:rPr>
                        <a:t>kadastr 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C2C2A"/>
                          </a:solidFill>
                          <a:latin typeface="Calibri"/>
                        </a:rPr>
                        <a:t>IPOTEKA garov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